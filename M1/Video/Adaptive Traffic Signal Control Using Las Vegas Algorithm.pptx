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Josefin Sans Bold" charset="1" panose="00000800000000000000"/>
      <p:regular r:id="rId19"/>
    </p:embeddedFont>
    <p:embeddedFont>
      <p:font typeface="Josefin Sans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97398" y="281145"/>
            <a:ext cx="5893203" cy="1999859"/>
            <a:chOff x="0" y="0"/>
            <a:chExt cx="7857604" cy="2666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57617" cy="2666492"/>
            </a:xfrm>
            <a:custGeom>
              <a:avLst/>
              <a:gdLst/>
              <a:ahLst/>
              <a:cxnLst/>
              <a:rect r="r" b="b" t="t" l="l"/>
              <a:pathLst>
                <a:path h="2666492" w="7857617">
                  <a:moveTo>
                    <a:pt x="0" y="0"/>
                  </a:moveTo>
                  <a:lnTo>
                    <a:pt x="7857617" y="0"/>
                  </a:lnTo>
                  <a:lnTo>
                    <a:pt x="7857617" y="2666492"/>
                  </a:lnTo>
                  <a:lnTo>
                    <a:pt x="0" y="2666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8954" t="-264873" r="-89106" b="-26540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732" y="2985855"/>
            <a:ext cx="14986536" cy="140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1"/>
              </a:lnSpc>
            </a:pPr>
            <a:r>
              <a:rPr lang="en-US" b="true" sz="6002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CSE400 - FUNDAMENTALS OF PROBABILITY IN COMPUTING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75161" y="6029144"/>
            <a:ext cx="7737678" cy="59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0"/>
              </a:lnSpc>
            </a:pPr>
            <a:r>
              <a:rPr lang="en-US" b="true" sz="4832">
                <a:solidFill>
                  <a:srgbClr val="460B0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Section-1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31042" y="7295681"/>
            <a:ext cx="10825916" cy="126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1"/>
              </a:lnSpc>
            </a:pPr>
            <a:r>
              <a:rPr lang="en-US" b="true" sz="5327">
                <a:solidFill>
                  <a:srgbClr val="460B0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Group-7</a:t>
            </a:r>
          </a:p>
          <a:p>
            <a:pPr algn="ctr">
              <a:lnSpc>
                <a:spcPts val="4741"/>
              </a:lnSpc>
            </a:pPr>
            <a:r>
              <a:rPr lang="en-US" b="true" sz="5327">
                <a:solidFill>
                  <a:srgbClr val="460B0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Intelligent Transportation system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75161" y="5070007"/>
            <a:ext cx="7737678" cy="721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1"/>
              </a:lnSpc>
            </a:pPr>
            <a:r>
              <a:rPr lang="en-US" b="true" sz="5732">
                <a:solidFill>
                  <a:srgbClr val="460B0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Milestone-1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732" y="668492"/>
            <a:ext cx="14986536" cy="140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1"/>
              </a:lnSpc>
            </a:pPr>
            <a:r>
              <a:rPr lang="en-US" b="true" sz="6002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ADAPTIVE TRAFFIC SIGNAL CONTROL USING LAS VEGAS ALGORITHM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10799" y="2257312"/>
            <a:ext cx="6459806" cy="1503373"/>
          </a:xfrm>
          <a:custGeom>
            <a:avLst/>
            <a:gdLst/>
            <a:ahLst/>
            <a:cxnLst/>
            <a:rect r="r" b="b" t="t" l="l"/>
            <a:pathLst>
              <a:path h="1503373" w="6459806">
                <a:moveTo>
                  <a:pt x="0" y="0"/>
                </a:moveTo>
                <a:lnTo>
                  <a:pt x="6459806" y="0"/>
                </a:lnTo>
                <a:lnTo>
                  <a:pt x="6459806" y="1503373"/>
                </a:lnTo>
                <a:lnTo>
                  <a:pt x="0" y="15033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-100717" y="2775779"/>
            <a:ext cx="7737678" cy="59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0"/>
              </a:lnSpc>
            </a:pPr>
            <a:r>
              <a:rPr lang="en-US" b="true" sz="4832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Application Domain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38220" y="4058618"/>
            <a:ext cx="6459806" cy="1503373"/>
          </a:xfrm>
          <a:custGeom>
            <a:avLst/>
            <a:gdLst/>
            <a:ahLst/>
            <a:cxnLst/>
            <a:rect r="r" b="b" t="t" l="l"/>
            <a:pathLst>
              <a:path h="1503373" w="6459806">
                <a:moveTo>
                  <a:pt x="0" y="0"/>
                </a:moveTo>
                <a:lnTo>
                  <a:pt x="6459805" y="0"/>
                </a:lnTo>
                <a:lnTo>
                  <a:pt x="6459805" y="1503373"/>
                </a:lnTo>
                <a:lnTo>
                  <a:pt x="0" y="15033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-100717" y="4577085"/>
            <a:ext cx="7737678" cy="59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0"/>
              </a:lnSpc>
            </a:pPr>
            <a:r>
              <a:rPr lang="en-US" b="true" sz="4832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Real-World Context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38220" y="6611610"/>
            <a:ext cx="6459806" cy="1503373"/>
          </a:xfrm>
          <a:custGeom>
            <a:avLst/>
            <a:gdLst/>
            <a:ahLst/>
            <a:cxnLst/>
            <a:rect r="r" b="b" t="t" l="l"/>
            <a:pathLst>
              <a:path h="1503373" w="6459806">
                <a:moveTo>
                  <a:pt x="0" y="0"/>
                </a:moveTo>
                <a:lnTo>
                  <a:pt x="6459805" y="0"/>
                </a:lnTo>
                <a:lnTo>
                  <a:pt x="6459805" y="1503373"/>
                </a:lnTo>
                <a:lnTo>
                  <a:pt x="0" y="15033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-100717" y="7130077"/>
            <a:ext cx="7737678" cy="59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0"/>
              </a:lnSpc>
            </a:pPr>
            <a:r>
              <a:rPr lang="en-US" b="true" sz="4832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Intrinsic Uncertainty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96620" y="2719612"/>
            <a:ext cx="7228739" cy="65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Intelligent Transporation System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96620" y="4106862"/>
            <a:ext cx="9622339" cy="198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Traffic demand changes changes randomly throughout the day. Hence, we need to manage the urban traffic.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96620" y="6744017"/>
            <a:ext cx="9797605" cy="2656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Traffic volume fluctuated due to time of the day, Human driving behavior, accidents etc. adittionally, sensor may not measure the traffic perfectly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30822" y="753395"/>
            <a:ext cx="14986536" cy="73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1"/>
              </a:lnSpc>
            </a:pPr>
            <a:r>
              <a:rPr lang="en-US" b="true" sz="6002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OBJECTIVE AND SCOPE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1645" y="3722115"/>
            <a:ext cx="14052961" cy="132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Minimize vehicle waiting time and travel time at an intersection under uncertain trafiic conditions.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578223" y="1994129"/>
            <a:ext cx="6459806" cy="1503373"/>
          </a:xfrm>
          <a:custGeom>
            <a:avLst/>
            <a:gdLst/>
            <a:ahLst/>
            <a:cxnLst/>
            <a:rect r="r" b="b" t="t" l="l"/>
            <a:pathLst>
              <a:path h="1503373" w="6459806">
                <a:moveTo>
                  <a:pt x="0" y="0"/>
                </a:moveTo>
                <a:lnTo>
                  <a:pt x="6459805" y="0"/>
                </a:lnTo>
                <a:lnTo>
                  <a:pt x="6459805" y="1503373"/>
                </a:lnTo>
                <a:lnTo>
                  <a:pt x="0" y="15033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939286" y="2512597"/>
            <a:ext cx="7737678" cy="59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0"/>
              </a:lnSpc>
            </a:pPr>
            <a:r>
              <a:rPr lang="en-US" b="true" sz="4832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Objective 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709383" y="5124951"/>
            <a:ext cx="6459806" cy="1503373"/>
          </a:xfrm>
          <a:custGeom>
            <a:avLst/>
            <a:gdLst/>
            <a:ahLst/>
            <a:cxnLst/>
            <a:rect r="r" b="b" t="t" l="l"/>
            <a:pathLst>
              <a:path h="1503373" w="6459806">
                <a:moveTo>
                  <a:pt x="0" y="0"/>
                </a:moveTo>
                <a:lnTo>
                  <a:pt x="6459806" y="0"/>
                </a:lnTo>
                <a:lnTo>
                  <a:pt x="6459806" y="1503373"/>
                </a:lnTo>
                <a:lnTo>
                  <a:pt x="0" y="15033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879156" y="5124951"/>
            <a:ext cx="6459806" cy="1503373"/>
          </a:xfrm>
          <a:custGeom>
            <a:avLst/>
            <a:gdLst/>
            <a:ahLst/>
            <a:cxnLst/>
            <a:rect r="r" b="b" t="t" l="l"/>
            <a:pathLst>
              <a:path h="1503373" w="6459806">
                <a:moveTo>
                  <a:pt x="0" y="0"/>
                </a:moveTo>
                <a:lnTo>
                  <a:pt x="6459805" y="0"/>
                </a:lnTo>
                <a:lnTo>
                  <a:pt x="6459805" y="1503373"/>
                </a:lnTo>
                <a:lnTo>
                  <a:pt x="0" y="15033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70447" y="5643419"/>
            <a:ext cx="7737678" cy="59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0"/>
              </a:lnSpc>
            </a:pPr>
            <a:r>
              <a:rPr lang="en-US" b="true" sz="4832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Estimated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93022" y="5682995"/>
            <a:ext cx="7737678" cy="59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0"/>
              </a:lnSpc>
            </a:pPr>
            <a:r>
              <a:rPr lang="en-US" b="true" sz="4832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Decided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39567" y="6757743"/>
            <a:ext cx="5799438" cy="65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4" indent="-410207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Traffic flow rates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39567" y="7376234"/>
            <a:ext cx="5799438" cy="65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4" indent="-410207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Queue lenths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52327" y="6709484"/>
            <a:ext cx="7378373" cy="132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4" indent="-410207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optimal cycle time and Green time duration for each phase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52327" y="8199324"/>
            <a:ext cx="7378373" cy="132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4" indent="-410207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Weather to extend or shorten the current green phase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47886" y="9094670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244009" y="1441106"/>
            <a:ext cx="6459806" cy="1503373"/>
          </a:xfrm>
          <a:custGeom>
            <a:avLst/>
            <a:gdLst/>
            <a:ahLst/>
            <a:cxnLst/>
            <a:rect r="r" b="b" t="t" l="l"/>
            <a:pathLst>
              <a:path h="1503373" w="6459806">
                <a:moveTo>
                  <a:pt x="0" y="0"/>
                </a:moveTo>
                <a:lnTo>
                  <a:pt x="6459806" y="0"/>
                </a:lnTo>
                <a:lnTo>
                  <a:pt x="6459806" y="1503373"/>
                </a:lnTo>
                <a:lnTo>
                  <a:pt x="0" y="15033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744210" y="1533443"/>
            <a:ext cx="6459806" cy="1503373"/>
          </a:xfrm>
          <a:custGeom>
            <a:avLst/>
            <a:gdLst/>
            <a:ahLst/>
            <a:cxnLst/>
            <a:rect r="r" b="b" t="t" l="l"/>
            <a:pathLst>
              <a:path h="1503373" w="6459806">
                <a:moveTo>
                  <a:pt x="0" y="0"/>
                </a:moveTo>
                <a:lnTo>
                  <a:pt x="6459806" y="0"/>
                </a:lnTo>
                <a:lnTo>
                  <a:pt x="6459806" y="1503373"/>
                </a:lnTo>
                <a:lnTo>
                  <a:pt x="0" y="15033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35613" y="5057775"/>
            <a:ext cx="8830861" cy="132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4" indent="-410207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Signal timing decisions are selected using a Las Vegas algorithm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056452" y="6323757"/>
            <a:ext cx="4942260" cy="1150199"/>
          </a:xfrm>
          <a:custGeom>
            <a:avLst/>
            <a:gdLst/>
            <a:ahLst/>
            <a:cxnLst/>
            <a:rect r="r" b="b" t="t" l="l"/>
            <a:pathLst>
              <a:path h="1150199" w="4942260">
                <a:moveTo>
                  <a:pt x="0" y="0"/>
                </a:moveTo>
                <a:lnTo>
                  <a:pt x="4942260" y="0"/>
                </a:lnTo>
                <a:lnTo>
                  <a:pt x="4942260" y="1150198"/>
                </a:lnTo>
                <a:lnTo>
                  <a:pt x="0" y="1150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389682" y="7623615"/>
            <a:ext cx="1395291" cy="350091"/>
          </a:xfrm>
          <a:custGeom>
            <a:avLst/>
            <a:gdLst/>
            <a:ahLst/>
            <a:cxnLst/>
            <a:rect r="r" b="b" t="t" l="l"/>
            <a:pathLst>
              <a:path h="350091" w="1395291">
                <a:moveTo>
                  <a:pt x="0" y="0"/>
                </a:moveTo>
                <a:lnTo>
                  <a:pt x="1395291" y="0"/>
                </a:lnTo>
                <a:lnTo>
                  <a:pt x="1395291" y="350091"/>
                </a:lnTo>
                <a:lnTo>
                  <a:pt x="0" y="3500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784973" y="7426539"/>
            <a:ext cx="3409323" cy="65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Flow estimation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171183" y="7622334"/>
            <a:ext cx="1395291" cy="350091"/>
          </a:xfrm>
          <a:custGeom>
            <a:avLst/>
            <a:gdLst/>
            <a:ahLst/>
            <a:cxnLst/>
            <a:rect r="r" b="b" t="t" l="l"/>
            <a:pathLst>
              <a:path h="350091" w="1395291">
                <a:moveTo>
                  <a:pt x="0" y="0"/>
                </a:moveTo>
                <a:lnTo>
                  <a:pt x="1395291" y="0"/>
                </a:lnTo>
                <a:lnTo>
                  <a:pt x="1395291" y="350091"/>
                </a:lnTo>
                <a:lnTo>
                  <a:pt x="0" y="3500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607502" y="7426539"/>
            <a:ext cx="4782421" cy="65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 Probabilistic decision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1837075">
            <a:off x="14419911" y="7944415"/>
            <a:ext cx="1395291" cy="350091"/>
          </a:xfrm>
          <a:custGeom>
            <a:avLst/>
            <a:gdLst/>
            <a:ahLst/>
            <a:cxnLst/>
            <a:rect r="r" b="b" t="t" l="l"/>
            <a:pathLst>
              <a:path h="350091" w="1395291">
                <a:moveTo>
                  <a:pt x="0" y="0"/>
                </a:moveTo>
                <a:lnTo>
                  <a:pt x="1395291" y="0"/>
                </a:lnTo>
                <a:lnTo>
                  <a:pt x="1395291" y="350091"/>
                </a:lnTo>
                <a:lnTo>
                  <a:pt x="0" y="3500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10800000">
            <a:off x="12994631" y="8744579"/>
            <a:ext cx="1395291" cy="350091"/>
          </a:xfrm>
          <a:custGeom>
            <a:avLst/>
            <a:gdLst/>
            <a:ahLst/>
            <a:cxnLst/>
            <a:rect r="r" b="b" t="t" l="l"/>
            <a:pathLst>
              <a:path h="350091" w="1395291">
                <a:moveTo>
                  <a:pt x="0" y="0"/>
                </a:moveTo>
                <a:lnTo>
                  <a:pt x="1395291" y="0"/>
                </a:lnTo>
                <a:lnTo>
                  <a:pt x="1395291" y="350091"/>
                </a:lnTo>
                <a:lnTo>
                  <a:pt x="0" y="3500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0800000">
            <a:off x="7703815" y="8688892"/>
            <a:ext cx="1322043" cy="331713"/>
          </a:xfrm>
          <a:custGeom>
            <a:avLst/>
            <a:gdLst/>
            <a:ahLst/>
            <a:cxnLst/>
            <a:rect r="r" b="b" t="t" l="l"/>
            <a:pathLst>
              <a:path h="331713" w="1322043">
                <a:moveTo>
                  <a:pt x="0" y="0"/>
                </a:moveTo>
                <a:lnTo>
                  <a:pt x="1322043" y="0"/>
                </a:lnTo>
                <a:lnTo>
                  <a:pt x="1322043" y="331713"/>
                </a:lnTo>
                <a:lnTo>
                  <a:pt x="0" y="3317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650732" y="496032"/>
            <a:ext cx="14986536" cy="73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1"/>
              </a:lnSpc>
            </a:pPr>
            <a:r>
              <a:rPr lang="en-US" b="true" sz="6002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SYSTEM OVERVIEW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12794" y="1825628"/>
            <a:ext cx="6722236" cy="103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7"/>
              </a:lnSpc>
            </a:pPr>
            <a:r>
              <a:rPr lang="en-US" b="true" sz="4345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End-to-end system pipeline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44210" y="2069754"/>
            <a:ext cx="6722236" cy="54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7"/>
              </a:lnSpc>
            </a:pPr>
            <a:r>
              <a:rPr lang="en-US" b="true" sz="4345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Major Components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53529" y="3068304"/>
            <a:ext cx="8115300" cy="65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4" indent="-410207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Traffic sensors detect vehicles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3529" y="3772535"/>
            <a:ext cx="6950286" cy="132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4" indent="-410207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Traffic state is estimated probabilistically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84432" y="3040379"/>
            <a:ext cx="5579435" cy="65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4" indent="-410207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Data collection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84432" y="3696335"/>
            <a:ext cx="8342849" cy="65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4" indent="-410207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Las Vegas randomized algorithm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084432" y="4358322"/>
            <a:ext cx="5579435" cy="65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4" indent="-410207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Fuzzy logic controller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136150" y="5124876"/>
            <a:ext cx="6871291" cy="65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4" indent="-410207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Traffic simulator (SUMO)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031433" y="6683481"/>
            <a:ext cx="6722236" cy="54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7"/>
              </a:lnSpc>
            </a:pPr>
            <a:r>
              <a:rPr lang="en-US" b="true" sz="4345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Data flow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97513" y="7452151"/>
            <a:ext cx="2654068" cy="65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Traffic data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428917" y="8539695"/>
            <a:ext cx="3146167" cy="65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 Signal timing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263166" y="8539695"/>
            <a:ext cx="3610984" cy="65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Traffic response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465489" y="8483908"/>
            <a:ext cx="2076400" cy="65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Feedback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62581" y="796580"/>
            <a:ext cx="14986536" cy="73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1"/>
              </a:lnSpc>
            </a:pPr>
            <a:r>
              <a:rPr lang="en-US" b="true" sz="6002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SOURCE OF UNCERTAINTY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38220" y="1883373"/>
            <a:ext cx="5614842" cy="1306727"/>
          </a:xfrm>
          <a:custGeom>
            <a:avLst/>
            <a:gdLst/>
            <a:ahLst/>
            <a:cxnLst/>
            <a:rect r="r" b="b" t="t" l="l"/>
            <a:pathLst>
              <a:path h="1306727" w="5614842">
                <a:moveTo>
                  <a:pt x="0" y="0"/>
                </a:moveTo>
                <a:lnTo>
                  <a:pt x="5614842" y="0"/>
                </a:lnTo>
                <a:lnTo>
                  <a:pt x="5614842" y="1306727"/>
                </a:lnTo>
                <a:lnTo>
                  <a:pt x="0" y="13067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29414" y="2330554"/>
            <a:ext cx="5232454" cy="526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0"/>
              </a:lnSpc>
            </a:pPr>
            <a:r>
              <a:rPr lang="en-US" b="true" sz="4224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Measurement Noise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3352025"/>
            <a:ext cx="7258757" cy="132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4" indent="-410207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Sensors may miss vehicles or count vehicle inaccurately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0" y="4836656"/>
            <a:ext cx="8048224" cy="132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4" indent="-410207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Vehicle speed and headway are random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693916" y="1775816"/>
            <a:ext cx="6077004" cy="1414285"/>
          </a:xfrm>
          <a:custGeom>
            <a:avLst/>
            <a:gdLst/>
            <a:ahLst/>
            <a:cxnLst/>
            <a:rect r="r" b="b" t="t" l="l"/>
            <a:pathLst>
              <a:path h="1414285" w="6077004">
                <a:moveTo>
                  <a:pt x="0" y="0"/>
                </a:moveTo>
                <a:lnTo>
                  <a:pt x="6077003" y="0"/>
                </a:lnTo>
                <a:lnTo>
                  <a:pt x="6077003" y="1414284"/>
                </a:lnTo>
                <a:lnTo>
                  <a:pt x="0" y="14142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320626" y="2127297"/>
            <a:ext cx="4823583" cy="923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b="true" sz="3894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Environmental Variability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30912" y="3352025"/>
            <a:ext cx="7258757" cy="65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4" indent="-410207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Peak vs off-peak hours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30912" y="4169906"/>
            <a:ext cx="7521912" cy="65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4" indent="-410207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Weather and road Conditions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5961868" y="5767937"/>
            <a:ext cx="6370378" cy="1482561"/>
          </a:xfrm>
          <a:custGeom>
            <a:avLst/>
            <a:gdLst/>
            <a:ahLst/>
            <a:cxnLst/>
            <a:rect r="r" b="b" t="t" l="l"/>
            <a:pathLst>
              <a:path h="1482561" w="6370378">
                <a:moveTo>
                  <a:pt x="0" y="0"/>
                </a:moveTo>
                <a:lnTo>
                  <a:pt x="6370378" y="0"/>
                </a:lnTo>
                <a:lnTo>
                  <a:pt x="6370378" y="1482561"/>
                </a:lnTo>
                <a:lnTo>
                  <a:pt x="0" y="1482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735266" y="6099778"/>
            <a:ext cx="4823583" cy="923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b="true" sz="3894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Modeling &amp; Data Uncertainity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98078" y="7518732"/>
            <a:ext cx="10365810" cy="65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4" indent="-410207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Webster’s formula is based on assumptions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2944" y="8279463"/>
            <a:ext cx="11120097" cy="65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4" indent="-410207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Future traffic may vary from past observations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72944" y="9040193"/>
            <a:ext cx="11120097" cy="65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4" indent="-410207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Traffic conditions evolve over time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62581" y="699346"/>
            <a:ext cx="15249692" cy="140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1"/>
              </a:lnSpc>
            </a:pPr>
            <a:r>
              <a:rPr lang="en-US" b="true" sz="6002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 KEY RANDOM VARIABLES AND THEIR ROLES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368281" y="2043610"/>
            <a:ext cx="7244279" cy="1685941"/>
          </a:xfrm>
          <a:custGeom>
            <a:avLst/>
            <a:gdLst/>
            <a:ahLst/>
            <a:cxnLst/>
            <a:rect r="r" b="b" t="t" l="l"/>
            <a:pathLst>
              <a:path h="1685941" w="7244279">
                <a:moveTo>
                  <a:pt x="0" y="0"/>
                </a:moveTo>
                <a:lnTo>
                  <a:pt x="7244279" y="0"/>
                </a:lnTo>
                <a:lnTo>
                  <a:pt x="7244279" y="1685941"/>
                </a:lnTo>
                <a:lnTo>
                  <a:pt x="0" y="16859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374193" y="2443079"/>
            <a:ext cx="5232454" cy="1001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0"/>
              </a:lnSpc>
            </a:pPr>
            <a:r>
              <a:rPr lang="en-US" b="true" sz="4224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Primary Random Variables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5448" y="3992191"/>
            <a:ext cx="5375994" cy="526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0"/>
              </a:lnSpc>
            </a:pPr>
            <a:r>
              <a:rPr lang="en-US" b="true" sz="4224">
                <a:solidFill>
                  <a:srgbClr val="460B0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Vehicle Arrival (Nt):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31442" y="3827534"/>
            <a:ext cx="11727858" cy="65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Represents number of vehicles arriving over time.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448" y="4914842"/>
            <a:ext cx="5375994" cy="526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0"/>
              </a:lnSpc>
            </a:pPr>
            <a:r>
              <a:rPr lang="en-US" b="true" sz="4224">
                <a:solidFill>
                  <a:srgbClr val="460B0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 Queue Length (Q):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31442" y="4737292"/>
            <a:ext cx="11517096" cy="132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Number of vehicles waiting at a signal changes randomly over time.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7713" y="6285301"/>
            <a:ext cx="5375994" cy="526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0"/>
              </a:lnSpc>
            </a:pPr>
            <a:r>
              <a:rPr lang="en-US" b="true" sz="4224">
                <a:solidFill>
                  <a:srgbClr val="460B0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 Saturation Flow (S):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31442" y="6085276"/>
            <a:ext cx="11517096" cy="132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Maximum number of vehicles that can pass during green time.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538220" y="7407982"/>
            <a:ext cx="7244279" cy="1685941"/>
          </a:xfrm>
          <a:custGeom>
            <a:avLst/>
            <a:gdLst/>
            <a:ahLst/>
            <a:cxnLst/>
            <a:rect r="r" b="b" t="t" l="l"/>
            <a:pathLst>
              <a:path h="1685941" w="7244279">
                <a:moveTo>
                  <a:pt x="0" y="0"/>
                </a:moveTo>
                <a:lnTo>
                  <a:pt x="7244278" y="0"/>
                </a:lnTo>
                <a:lnTo>
                  <a:pt x="7244278" y="1685941"/>
                </a:lnTo>
                <a:lnTo>
                  <a:pt x="0" y="16859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43629" y="7865182"/>
            <a:ext cx="5833459" cy="1001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0"/>
              </a:lnSpc>
            </a:pPr>
            <a:r>
              <a:rPr lang="en-US" b="true" sz="4224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Role of These Variables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23208" y="7779457"/>
            <a:ext cx="10764792" cy="65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4" indent="-410207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All Variables evolve stochastically over time.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523208" y="8349687"/>
            <a:ext cx="9770698" cy="132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14" indent="-410207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These variables directly influence traffic delay and signal desicions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11030" y="742540"/>
            <a:ext cx="17665941" cy="73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1"/>
              </a:lnSpc>
            </a:pPr>
            <a:r>
              <a:rPr lang="en-US" b="true" sz="6002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PROBABILISTIC MODELS AND ASSUMPTIONS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38220" y="1672902"/>
            <a:ext cx="6764692" cy="1574328"/>
          </a:xfrm>
          <a:custGeom>
            <a:avLst/>
            <a:gdLst/>
            <a:ahLst/>
            <a:cxnLst/>
            <a:rect r="r" b="b" t="t" l="l"/>
            <a:pathLst>
              <a:path h="1574328" w="6764692">
                <a:moveTo>
                  <a:pt x="0" y="0"/>
                </a:moveTo>
                <a:lnTo>
                  <a:pt x="6764692" y="0"/>
                </a:lnTo>
                <a:lnTo>
                  <a:pt x="6764692" y="1574328"/>
                </a:lnTo>
                <a:lnTo>
                  <a:pt x="0" y="15743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81850" y="2099932"/>
            <a:ext cx="5232454" cy="1063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7"/>
              </a:lnSpc>
            </a:pPr>
            <a:r>
              <a:rPr lang="en-US" b="true" sz="4524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Probabilistic Models Used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7410" y="3466305"/>
            <a:ext cx="8167840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35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Vehicle arrivals assumed random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7410" y="4146232"/>
            <a:ext cx="6551980" cy="1270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35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Traffic flow is treated as a stochastic process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7410" y="5464334"/>
            <a:ext cx="8896590" cy="1270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35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Signal timing decisions are selected using a Las Vegas algorithm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077791" y="1474125"/>
            <a:ext cx="6261170" cy="1457145"/>
          </a:xfrm>
          <a:custGeom>
            <a:avLst/>
            <a:gdLst/>
            <a:ahLst/>
            <a:cxnLst/>
            <a:rect r="r" b="b" t="t" l="l"/>
            <a:pathLst>
              <a:path h="1457145" w="6261170">
                <a:moveTo>
                  <a:pt x="0" y="0"/>
                </a:moveTo>
                <a:lnTo>
                  <a:pt x="6261170" y="0"/>
                </a:lnTo>
                <a:lnTo>
                  <a:pt x="6261170" y="1457146"/>
                </a:lnTo>
                <a:lnTo>
                  <a:pt x="0" y="1457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671103" y="1958943"/>
            <a:ext cx="7074545" cy="63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b="true" sz="5124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 Assumptions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0" y="5819584"/>
            <a:ext cx="8167840" cy="1270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35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Vehicle arrivals across time are dependent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0" y="4430203"/>
            <a:ext cx="8896590" cy="1270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35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Queue length depends on previous cycle traffic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0" y="3045571"/>
            <a:ext cx="8896590" cy="1270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35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Random variables change gradually, not abruptly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538220" y="7294462"/>
            <a:ext cx="6261170" cy="1457145"/>
          </a:xfrm>
          <a:custGeom>
            <a:avLst/>
            <a:gdLst/>
            <a:ahLst/>
            <a:cxnLst/>
            <a:rect r="r" b="b" t="t" l="l"/>
            <a:pathLst>
              <a:path h="1457145" w="6261170">
                <a:moveTo>
                  <a:pt x="0" y="0"/>
                </a:moveTo>
                <a:lnTo>
                  <a:pt x="6261170" y="0"/>
                </a:lnTo>
                <a:lnTo>
                  <a:pt x="6261170" y="1457146"/>
                </a:lnTo>
                <a:lnTo>
                  <a:pt x="0" y="1457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52578" y="7849395"/>
            <a:ext cx="5232454" cy="612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2"/>
              </a:lnSpc>
            </a:pPr>
            <a:r>
              <a:rPr lang="en-US" b="true" sz="4924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Justification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15077" y="7318820"/>
            <a:ext cx="9770698" cy="1270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35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Exact probability distributions are hard to estimate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15077" y="8554085"/>
            <a:ext cx="9530572" cy="1270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35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Randomized algorithms help make robust decisions under uncertainty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732" y="941527"/>
            <a:ext cx="14986536" cy="1407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1"/>
              </a:lnSpc>
            </a:pPr>
            <a:r>
              <a:rPr lang="en-US" b="true" sz="6002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PROBABILISTIC REASONING AND INFERENCE LOGIC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59576" y="2617562"/>
            <a:ext cx="6555576" cy="1525661"/>
          </a:xfrm>
          <a:custGeom>
            <a:avLst/>
            <a:gdLst/>
            <a:ahLst/>
            <a:cxnLst/>
            <a:rect r="r" b="b" t="t" l="l"/>
            <a:pathLst>
              <a:path h="1525661" w="6555576">
                <a:moveTo>
                  <a:pt x="0" y="0"/>
                </a:moveTo>
                <a:lnTo>
                  <a:pt x="6555576" y="0"/>
                </a:lnTo>
                <a:lnTo>
                  <a:pt x="6555576" y="1525662"/>
                </a:lnTo>
                <a:lnTo>
                  <a:pt x="0" y="15256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79310" y="3027415"/>
            <a:ext cx="5116108" cy="923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b="true" sz="3894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Probabilistic Reasoning is used as: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47190" y="2551800"/>
            <a:ext cx="10534729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35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Random Variable - </a:t>
            </a:r>
            <a:r>
              <a:rPr lang="en-US" b="true" sz="3599">
                <a:solidFill>
                  <a:srgbClr val="460B0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Vehicle arrival rate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47190" y="3155355"/>
            <a:ext cx="10534729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35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Arrival rate is near the mean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47190" y="3784131"/>
            <a:ext cx="10534729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35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Webster cycle valid only under low fluctuation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703724" y="4877145"/>
            <a:ext cx="6555576" cy="1525661"/>
          </a:xfrm>
          <a:custGeom>
            <a:avLst/>
            <a:gdLst/>
            <a:ahLst/>
            <a:cxnLst/>
            <a:rect r="r" b="b" t="t" l="l"/>
            <a:pathLst>
              <a:path h="1525661" w="6555576">
                <a:moveTo>
                  <a:pt x="0" y="0"/>
                </a:moveTo>
                <a:lnTo>
                  <a:pt x="6555576" y="0"/>
                </a:lnTo>
                <a:lnTo>
                  <a:pt x="6555576" y="1525661"/>
                </a:lnTo>
                <a:lnTo>
                  <a:pt x="0" y="15256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423458" y="5286998"/>
            <a:ext cx="5116108" cy="923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b="true" sz="3894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Conditional dependence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28700" y="7070631"/>
            <a:ext cx="6555576" cy="1525661"/>
          </a:xfrm>
          <a:custGeom>
            <a:avLst/>
            <a:gdLst/>
            <a:ahLst/>
            <a:cxnLst/>
            <a:rect r="r" b="b" t="t" l="l"/>
            <a:pathLst>
              <a:path h="1525661" w="6555576">
                <a:moveTo>
                  <a:pt x="0" y="0"/>
                </a:moveTo>
                <a:lnTo>
                  <a:pt x="6555576" y="0"/>
                </a:lnTo>
                <a:lnTo>
                  <a:pt x="6555576" y="1525661"/>
                </a:lnTo>
                <a:lnTo>
                  <a:pt x="0" y="15256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48434" y="7710102"/>
            <a:ext cx="4946984" cy="48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b="true" sz="3894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Inference logic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50732" y="4961795"/>
            <a:ext cx="8097563" cy="1270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35" indent="-388618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460B0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</a:t>
            </a:r>
            <a:r>
              <a:rPr lang="en-US" b="true" sz="3599">
                <a:solidFill>
                  <a:srgbClr val="460B0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t+1</a:t>
            </a:r>
            <a:r>
              <a:rPr lang="en-US" sz="35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 depends on </a:t>
            </a:r>
            <a:r>
              <a:rPr lang="en-US" b="true" sz="3599">
                <a:solidFill>
                  <a:srgbClr val="460B0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T(S</a:t>
            </a:r>
            <a:r>
              <a:rPr lang="en-US" b="true" sz="3599">
                <a:solidFill>
                  <a:srgbClr val="460B0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t</a:t>
            </a:r>
            <a:r>
              <a:rPr lang="en-US" b="true" sz="3599">
                <a:solidFill>
                  <a:srgbClr val="460B0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)</a:t>
            </a:r>
          </a:p>
          <a:p>
            <a:pPr algn="just" marL="777235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Decisions are made cycle by cycle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49077" y="6879878"/>
            <a:ext cx="10276613" cy="2546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5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Rand</a:t>
            </a:r>
            <a:r>
              <a:rPr lang="en-US" sz="35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omly generate candidat</a:t>
            </a:r>
            <a:r>
              <a:rPr lang="en-US" sz="35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e sign</a:t>
            </a:r>
            <a:r>
              <a:rPr lang="en-US" sz="35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al timings</a:t>
            </a:r>
          </a:p>
          <a:p>
            <a:pPr algn="l" marL="777235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Evaluate each candidate against delay and queue constraints</a:t>
            </a:r>
          </a:p>
          <a:p>
            <a:pPr algn="l" marL="777235" indent="-388618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Select the first valid timing plan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732" y="1068979"/>
            <a:ext cx="14986536" cy="1407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1"/>
              </a:lnSpc>
            </a:pPr>
            <a:r>
              <a:rPr lang="en-US" b="true" sz="6002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OPERATIONALIZING PROBABILISTIC REASONING IN THE PROJECT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717020" y="2577269"/>
            <a:ext cx="6555576" cy="1525661"/>
          </a:xfrm>
          <a:custGeom>
            <a:avLst/>
            <a:gdLst/>
            <a:ahLst/>
            <a:cxnLst/>
            <a:rect r="r" b="b" t="t" l="l"/>
            <a:pathLst>
              <a:path h="1525661" w="6555576">
                <a:moveTo>
                  <a:pt x="0" y="0"/>
                </a:moveTo>
                <a:lnTo>
                  <a:pt x="6555576" y="0"/>
                </a:lnTo>
                <a:lnTo>
                  <a:pt x="6555576" y="1525661"/>
                </a:lnTo>
                <a:lnTo>
                  <a:pt x="0" y="15256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436754" y="2987122"/>
            <a:ext cx="5116108" cy="923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b="true" sz="3894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How reasoning is implemented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7847" y="4026730"/>
            <a:ext cx="8097960" cy="3590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SUMO forms random traffic demand</a:t>
            </a:r>
          </a:p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Sensors measure arrivals, queue length &amp; flow</a:t>
            </a:r>
          </a:p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Modified Webster computes a baseline feasible cycle time</a:t>
            </a:r>
          </a:p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Fuzzy logic adjusts cycle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457255" y="2519909"/>
            <a:ext cx="6802045" cy="1583021"/>
          </a:xfrm>
          <a:custGeom>
            <a:avLst/>
            <a:gdLst/>
            <a:ahLst/>
            <a:cxnLst/>
            <a:rect r="r" b="b" t="t" l="l"/>
            <a:pathLst>
              <a:path h="1583021" w="6802045">
                <a:moveTo>
                  <a:pt x="0" y="0"/>
                </a:moveTo>
                <a:lnTo>
                  <a:pt x="6802045" y="0"/>
                </a:lnTo>
                <a:lnTo>
                  <a:pt x="6802045" y="1583021"/>
                </a:lnTo>
                <a:lnTo>
                  <a:pt x="0" y="15830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222853" y="2987122"/>
            <a:ext cx="5116108" cy="923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b="true" sz="3894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Role of Las Vegas Randomization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57255" y="4119440"/>
            <a:ext cx="6462027" cy="239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R</a:t>
            </a: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andomly sample candidate signal timings</a:t>
            </a:r>
          </a:p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Test feasibility in SUMO</a:t>
            </a:r>
          </a:p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Stop at first valid solution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2098665" y="7758748"/>
            <a:ext cx="6555576" cy="1525661"/>
          </a:xfrm>
          <a:custGeom>
            <a:avLst/>
            <a:gdLst/>
            <a:ahLst/>
            <a:cxnLst/>
            <a:rect r="r" b="b" t="t" l="l"/>
            <a:pathLst>
              <a:path h="1525661" w="6555576">
                <a:moveTo>
                  <a:pt x="0" y="0"/>
                </a:moveTo>
                <a:lnTo>
                  <a:pt x="6555576" y="0"/>
                </a:lnTo>
                <a:lnTo>
                  <a:pt x="6555576" y="1525661"/>
                </a:lnTo>
                <a:lnTo>
                  <a:pt x="0" y="15256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818399" y="8374484"/>
            <a:ext cx="5116108" cy="48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b="true" sz="3894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Evaluation Metrics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93626" y="7588446"/>
            <a:ext cx="7625656" cy="179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Avg. waiting time (expected delay)</a:t>
            </a:r>
          </a:p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Avg. travel time</a:t>
            </a:r>
          </a:p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Avg. vehicle speed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17479" y="910531"/>
            <a:ext cx="14986536" cy="1407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1"/>
              </a:lnSpc>
            </a:pPr>
            <a:r>
              <a:rPr lang="en-US" b="true" sz="6002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CURRENT LIMITATIONS AND CONCEPTUAL GAPS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31518" y="2770968"/>
            <a:ext cx="6555576" cy="1525661"/>
          </a:xfrm>
          <a:custGeom>
            <a:avLst/>
            <a:gdLst/>
            <a:ahLst/>
            <a:cxnLst/>
            <a:rect r="r" b="b" t="t" l="l"/>
            <a:pathLst>
              <a:path h="1525661" w="6555576">
                <a:moveTo>
                  <a:pt x="0" y="0"/>
                </a:moveTo>
                <a:lnTo>
                  <a:pt x="6555576" y="0"/>
                </a:lnTo>
                <a:lnTo>
                  <a:pt x="6555576" y="1525661"/>
                </a:lnTo>
                <a:lnTo>
                  <a:pt x="0" y="15256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51252" y="3372922"/>
            <a:ext cx="5116108" cy="486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b="true" sz="3894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Known Weaknesses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95197" y="2554189"/>
            <a:ext cx="8544369" cy="239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Does not predict future shifts</a:t>
            </a:r>
          </a:p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Non-stationary events not modeled</a:t>
            </a:r>
          </a:p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Randomized sampling may increase computation time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703724" y="5201504"/>
            <a:ext cx="6555576" cy="1525661"/>
          </a:xfrm>
          <a:custGeom>
            <a:avLst/>
            <a:gdLst/>
            <a:ahLst/>
            <a:cxnLst/>
            <a:rect r="r" b="b" t="t" l="l"/>
            <a:pathLst>
              <a:path h="1525661" w="6555576">
                <a:moveTo>
                  <a:pt x="0" y="0"/>
                </a:moveTo>
                <a:lnTo>
                  <a:pt x="6555576" y="0"/>
                </a:lnTo>
                <a:lnTo>
                  <a:pt x="6555576" y="1525662"/>
                </a:lnTo>
                <a:lnTo>
                  <a:pt x="0" y="15256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423458" y="5623803"/>
            <a:ext cx="5116108" cy="923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b="true" sz="3894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Unverified Assumptions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4868129"/>
            <a:ext cx="9288863" cy="239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Loss time treated as a fixed constant</a:t>
            </a:r>
          </a:p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Saturation flow assumed nearly constant</a:t>
            </a:r>
          </a:p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Arrivals assumed independent in short intervals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28700" y="7351782"/>
            <a:ext cx="6555576" cy="1525661"/>
          </a:xfrm>
          <a:custGeom>
            <a:avLst/>
            <a:gdLst/>
            <a:ahLst/>
            <a:cxnLst/>
            <a:rect r="r" b="b" t="t" l="l"/>
            <a:pathLst>
              <a:path h="1525661" w="6555576">
                <a:moveTo>
                  <a:pt x="0" y="0"/>
                </a:moveTo>
                <a:lnTo>
                  <a:pt x="6555576" y="0"/>
                </a:lnTo>
                <a:lnTo>
                  <a:pt x="6555576" y="1525661"/>
                </a:lnTo>
                <a:lnTo>
                  <a:pt x="0" y="15256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748434" y="7967666"/>
            <a:ext cx="5116108" cy="48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b="true" sz="3894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Conceptual Gap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95197" y="7687452"/>
            <a:ext cx="8748426" cy="118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6" indent="-367028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No learning mechanism for distribution change over time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50732" y="1209675"/>
            <a:ext cx="14986536" cy="1407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1"/>
              </a:lnSpc>
            </a:pPr>
            <a:r>
              <a:rPr lang="en-US" b="true" sz="6002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PLANNED REFINEMENTS AND ROLE COORDINATION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41337" y="3065785"/>
            <a:ext cx="5654464" cy="1315948"/>
          </a:xfrm>
          <a:custGeom>
            <a:avLst/>
            <a:gdLst/>
            <a:ahLst/>
            <a:cxnLst/>
            <a:rect r="r" b="b" t="t" l="l"/>
            <a:pathLst>
              <a:path h="1315948" w="5654464">
                <a:moveTo>
                  <a:pt x="0" y="0"/>
                </a:moveTo>
                <a:lnTo>
                  <a:pt x="5654464" y="0"/>
                </a:lnTo>
                <a:lnTo>
                  <a:pt x="5654464" y="1315949"/>
                </a:lnTo>
                <a:lnTo>
                  <a:pt x="0" y="13159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75237" y="3540557"/>
            <a:ext cx="4986665" cy="471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8"/>
              </a:lnSpc>
            </a:pPr>
            <a:r>
              <a:rPr lang="en-US" b="true" sz="3796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Planned Refinements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1337" y="4540038"/>
            <a:ext cx="6020995" cy="408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5484" indent="-357742" lvl="1">
              <a:lnSpc>
                <a:spcPts val="4639"/>
              </a:lnSpc>
              <a:buFont typeface="Arial"/>
              <a:buChar char="•"/>
            </a:pPr>
            <a:r>
              <a:rPr lang="en-US" sz="3313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Model works for multiple intersections</a:t>
            </a:r>
          </a:p>
          <a:p>
            <a:pPr algn="l" marL="715484" indent="-357742" lvl="1">
              <a:lnSpc>
                <a:spcPts val="4639"/>
              </a:lnSpc>
              <a:buFont typeface="Arial"/>
              <a:buChar char="•"/>
            </a:pPr>
            <a:r>
              <a:rPr lang="en-US" sz="3313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Refine and formalize the Las Vegas randomized selection process</a:t>
            </a:r>
          </a:p>
          <a:p>
            <a:pPr algn="l" marL="715484" indent="-357742" lvl="1">
              <a:lnSpc>
                <a:spcPts val="4639"/>
              </a:lnSpc>
              <a:buFont typeface="Arial"/>
              <a:buChar char="•"/>
            </a:pPr>
            <a:r>
              <a:rPr lang="en-US" sz="3313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Improve modeling of loss time as a random variable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445693" y="3065785"/>
            <a:ext cx="5781248" cy="1345454"/>
          </a:xfrm>
          <a:custGeom>
            <a:avLst/>
            <a:gdLst/>
            <a:ahLst/>
            <a:cxnLst/>
            <a:rect r="r" b="b" t="t" l="l"/>
            <a:pathLst>
              <a:path h="1345454" w="5781248">
                <a:moveTo>
                  <a:pt x="0" y="0"/>
                </a:moveTo>
                <a:lnTo>
                  <a:pt x="5781248" y="0"/>
                </a:lnTo>
                <a:lnTo>
                  <a:pt x="5781248" y="1345454"/>
                </a:lnTo>
                <a:lnTo>
                  <a:pt x="0" y="1345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836563" y="3463022"/>
            <a:ext cx="4999509" cy="900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7"/>
              </a:lnSpc>
            </a:pPr>
            <a:r>
              <a:rPr lang="en-US" b="true" sz="3805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Probabilistic Evolution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24818" y="4828073"/>
            <a:ext cx="5222998" cy="3510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7327" indent="-358663" lvl="1">
              <a:lnSpc>
                <a:spcPts val="4651"/>
              </a:lnSpc>
              <a:buFont typeface="Arial"/>
              <a:buChar char="•"/>
            </a:pPr>
            <a:r>
              <a:rPr lang="en-US" sz="3322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Imp</a:t>
            </a:r>
            <a:r>
              <a:rPr lang="en-US" sz="3322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rove efficiency of  Las Vegas randomized algorithm</a:t>
            </a:r>
          </a:p>
          <a:p>
            <a:pPr algn="l" marL="717327" indent="-358663" lvl="1">
              <a:lnSpc>
                <a:spcPts val="4651"/>
              </a:lnSpc>
              <a:buFont typeface="Arial"/>
              <a:buChar char="•"/>
            </a:pPr>
            <a:r>
              <a:rPr lang="en-US" sz="3322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Incorporate trend prediction in arrival distributions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2468046" y="3061348"/>
            <a:ext cx="5594280" cy="1301941"/>
          </a:xfrm>
          <a:custGeom>
            <a:avLst/>
            <a:gdLst/>
            <a:ahLst/>
            <a:cxnLst/>
            <a:rect r="r" b="b" t="t" l="l"/>
            <a:pathLst>
              <a:path h="1301941" w="5594280">
                <a:moveTo>
                  <a:pt x="0" y="0"/>
                </a:moveTo>
                <a:lnTo>
                  <a:pt x="5594280" y="0"/>
                </a:lnTo>
                <a:lnTo>
                  <a:pt x="5594280" y="1301942"/>
                </a:lnTo>
                <a:lnTo>
                  <a:pt x="0" y="13019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879361" y="3571147"/>
            <a:ext cx="4771651" cy="48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</a:pPr>
            <a:r>
              <a:rPr lang="en-US" b="true" sz="3894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Role Coordination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53687" y="4828073"/>
            <a:ext cx="5222998" cy="3510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7327" indent="-358663" lvl="1">
              <a:lnSpc>
                <a:spcPts val="4651"/>
              </a:lnSpc>
              <a:buFont typeface="Arial"/>
              <a:buChar char="•"/>
            </a:pPr>
            <a:r>
              <a:rPr lang="en-US" sz="3322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The GitHub manager created a repo</a:t>
            </a:r>
          </a:p>
          <a:p>
            <a:pPr algn="l" marL="717327" indent="-358663" lvl="1">
              <a:lnSpc>
                <a:spcPts val="4651"/>
              </a:lnSpc>
              <a:buFont typeface="Arial"/>
              <a:buChar char="•"/>
            </a:pPr>
            <a:r>
              <a:rPr lang="en-US" sz="3322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Structured it in the format required, which is clear and easy to read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1209675"/>
            <a:ext cx="14986536" cy="1407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1"/>
              </a:lnSpc>
            </a:pPr>
            <a:r>
              <a:rPr lang="en-US" b="true" sz="6002">
                <a:solidFill>
                  <a:srgbClr val="7F111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SUMMARY OF GROUP-LEVEL UNDERSTANDING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68054" y="6299948"/>
            <a:ext cx="12951893" cy="2573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41"/>
              </a:lnSpc>
            </a:pPr>
            <a:r>
              <a:rPr lang="en-US" sz="3672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Overall,</a:t>
            </a:r>
          </a:p>
          <a:p>
            <a:pPr algn="just" marL="792937" indent="-396469" lvl="1">
              <a:lnSpc>
                <a:spcPts val="5141"/>
              </a:lnSpc>
              <a:buFont typeface="Arial"/>
              <a:buChar char="•"/>
            </a:pPr>
            <a:r>
              <a:rPr lang="en-US" sz="3672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Signal synchronization is a probabilistic decision problem</a:t>
            </a:r>
          </a:p>
          <a:p>
            <a:pPr algn="just" marL="792939" indent="-396469" lvl="1">
              <a:lnSpc>
                <a:spcPts val="5141"/>
              </a:lnSpc>
              <a:buFont typeface="Arial"/>
              <a:buChar char="•"/>
            </a:pPr>
            <a:r>
              <a:rPr lang="en-US" sz="3672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Adaptive Las Vegas randomized algorithm handles uncertainty and guarantees correctness.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83034" y="2849934"/>
            <a:ext cx="12121932" cy="322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41"/>
              </a:lnSpc>
            </a:pPr>
            <a:r>
              <a:rPr lang="en-US" sz="3672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We understand that:</a:t>
            </a:r>
          </a:p>
          <a:p>
            <a:pPr algn="just" marL="792937" indent="-396469" lvl="1">
              <a:lnSpc>
                <a:spcPts val="5141"/>
              </a:lnSpc>
              <a:buFont typeface="Arial"/>
              <a:buChar char="•"/>
            </a:pPr>
            <a:r>
              <a:rPr lang="en-US" sz="3672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Traffic arrival rate is random</a:t>
            </a:r>
          </a:p>
          <a:p>
            <a:pPr algn="just" marL="792937" indent="-396469" lvl="1">
              <a:lnSpc>
                <a:spcPts val="5141"/>
              </a:lnSpc>
              <a:buFont typeface="Arial"/>
              <a:buChar char="•"/>
            </a:pPr>
            <a:r>
              <a:rPr lang="en-US" sz="3672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Fixed-time signal control fails under high variance</a:t>
            </a:r>
          </a:p>
          <a:p>
            <a:pPr algn="just" marL="792937" indent="-396469" lvl="1">
              <a:lnSpc>
                <a:spcPts val="5141"/>
              </a:lnSpc>
              <a:buFont typeface="Arial"/>
              <a:buChar char="•"/>
            </a:pPr>
            <a:r>
              <a:rPr lang="en-US" sz="3672">
                <a:solidFill>
                  <a:srgbClr val="460B0D"/>
                </a:solidFill>
                <a:latin typeface="Josefin Sans"/>
                <a:ea typeface="Josefin Sans"/>
                <a:cs typeface="Josefin Sans"/>
                <a:sym typeface="Josefin Sans"/>
              </a:rPr>
              <a:t>Webster gives expected baseline; Las Vegas randomization provides a valid signal timing solution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467346" y="3262387"/>
            <a:ext cx="11353309" cy="3805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34"/>
              </a:lnSpc>
            </a:pPr>
            <a:r>
              <a:rPr lang="en-US" b="true" sz="16106">
                <a:solidFill>
                  <a:srgbClr val="460B0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DAHAF5KHoXA</dc:identifier>
  <dcterms:modified xsi:type="dcterms:W3CDTF">2011-08-01T06:04:30Z</dcterms:modified>
  <cp:revision>1</cp:revision>
  <dc:title>Adaptive Traffic Signal Control Using Las Vegas Algorithm</dc:title>
</cp:coreProperties>
</file>