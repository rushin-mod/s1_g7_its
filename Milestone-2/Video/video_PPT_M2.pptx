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Josefin Sans Bold" charset="1" panose="00000800000000000000"/>
      <p:regular r:id="rId19"/>
    </p:embeddedFont>
    <p:embeddedFont>
      <p:font typeface="Josefin Sa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08922" y="281149"/>
            <a:ext cx="7226483" cy="2452316"/>
            <a:chOff x="0" y="0"/>
            <a:chExt cx="7857617" cy="26664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57617" cy="2666492"/>
            </a:xfrm>
            <a:custGeom>
              <a:avLst/>
              <a:gdLst/>
              <a:ahLst/>
              <a:cxnLst/>
              <a:rect r="r" b="b" t="t" l="l"/>
              <a:pathLst>
                <a:path h="2666492" w="7857617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3378" r="0" b="-6337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730" y="3152565"/>
            <a:ext cx="14986540" cy="14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CSE400 - FUNDAMENTALS OF PROBABILITY IN COMPUTING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83570" y="6172019"/>
            <a:ext cx="2520869" cy="5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4831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Section-1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31038" y="7438558"/>
            <a:ext cx="10825915" cy="186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1"/>
              </a:lnSpc>
            </a:pPr>
            <a:r>
              <a:rPr lang="en-US" sz="5327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Group-7</a:t>
            </a:r>
          </a:p>
          <a:p>
            <a:pPr algn="ctr">
              <a:lnSpc>
                <a:spcPts val="4741"/>
              </a:lnSpc>
            </a:pPr>
            <a:r>
              <a:rPr lang="en-US" sz="5327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Intelligent Transportation system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35941" y="5222405"/>
            <a:ext cx="4016127" cy="72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sz="5731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Milestone-2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730" y="849468"/>
            <a:ext cx="14986540" cy="14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ADAPTIVE TRAFFIC SIGNAL CONTROL USING LAS VEGAS ALGORITHM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10804" y="2257311"/>
            <a:ext cx="6459807" cy="1503369"/>
          </a:xfrm>
          <a:custGeom>
            <a:avLst/>
            <a:gdLst/>
            <a:ahLst/>
            <a:cxnLst/>
            <a:rect r="r" b="b" t="t" l="l"/>
            <a:pathLst>
              <a:path h="1503369" w="6459807">
                <a:moveTo>
                  <a:pt x="0" y="0"/>
                </a:moveTo>
                <a:lnTo>
                  <a:pt x="6459807" y="0"/>
                </a:lnTo>
                <a:lnTo>
                  <a:pt x="6459807" y="1503369"/>
                </a:lnTo>
                <a:lnTo>
                  <a:pt x="0" y="1503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9" r="0" b="-30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2487" y="2918651"/>
            <a:ext cx="5811273" cy="5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4831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Application Domain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38220" y="4058622"/>
            <a:ext cx="6459807" cy="1503369"/>
          </a:xfrm>
          <a:custGeom>
            <a:avLst/>
            <a:gdLst/>
            <a:ahLst/>
            <a:cxnLst/>
            <a:rect r="r" b="b" t="t" l="l"/>
            <a:pathLst>
              <a:path h="1503369" w="6459807">
                <a:moveTo>
                  <a:pt x="0" y="0"/>
                </a:moveTo>
                <a:lnTo>
                  <a:pt x="6459807" y="0"/>
                </a:lnTo>
                <a:lnTo>
                  <a:pt x="6459807" y="1503368"/>
                </a:lnTo>
                <a:lnTo>
                  <a:pt x="0" y="1503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9" r="0" b="-30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1183" y="4719961"/>
            <a:ext cx="5773880" cy="5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4831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Real-World Context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38220" y="6611607"/>
            <a:ext cx="6459807" cy="1503369"/>
          </a:xfrm>
          <a:custGeom>
            <a:avLst/>
            <a:gdLst/>
            <a:ahLst/>
            <a:cxnLst/>
            <a:rect r="r" b="b" t="t" l="l"/>
            <a:pathLst>
              <a:path h="1503369" w="6459807">
                <a:moveTo>
                  <a:pt x="0" y="0"/>
                </a:moveTo>
                <a:lnTo>
                  <a:pt x="6459807" y="0"/>
                </a:lnTo>
                <a:lnTo>
                  <a:pt x="6459807" y="1503369"/>
                </a:lnTo>
                <a:lnTo>
                  <a:pt x="0" y="1503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9" r="0" b="-30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75934" y="7272957"/>
            <a:ext cx="5984379" cy="5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4831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Intrinsic Uncertainty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96622" y="2633891"/>
            <a:ext cx="7228742" cy="65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Intelligent Transporation 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76899" y="4301852"/>
            <a:ext cx="9682401" cy="161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2"/>
              </a:lnSpc>
            </a:pPr>
            <a:r>
              <a:rPr lang="en-US" sz="3101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Go</a:t>
            </a:r>
            <a:r>
              <a:rPr lang="en-US" sz="3101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ing beyond the qualitative descriptions, the project models the probabilistic behavior of 4 cross intersection for signal synchronization.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76899" y="6601889"/>
            <a:ext cx="9682401" cy="326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3107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uncertainty is inherent and is mathematically characterized by the arrival of vehicles randomly, random fluctuations in the development of queues, random extension of green-time and also variations in the vehicle speeds that characterize Indian traffic behavior.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574744" y="548039"/>
            <a:ext cx="9138512" cy="73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OBJECTIVE AND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1642" y="2676154"/>
            <a:ext cx="14052956" cy="13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pr</a:t>
            </a: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imary objective is to minimize the expected average waiting time per lane:               , where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821274" y="1209717"/>
            <a:ext cx="5973692" cy="1390237"/>
          </a:xfrm>
          <a:custGeom>
            <a:avLst/>
            <a:gdLst/>
            <a:ahLst/>
            <a:cxnLst/>
            <a:rect r="r" b="b" t="t" l="l"/>
            <a:pathLst>
              <a:path h="1390237" w="5973692">
                <a:moveTo>
                  <a:pt x="0" y="0"/>
                </a:moveTo>
                <a:lnTo>
                  <a:pt x="5973692" y="0"/>
                </a:lnTo>
                <a:lnTo>
                  <a:pt x="5973692" y="1390237"/>
                </a:lnTo>
                <a:lnTo>
                  <a:pt x="0" y="1390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9" r="0" b="-30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419750" y="1813000"/>
            <a:ext cx="2776740" cy="55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6"/>
              </a:lnSpc>
            </a:pPr>
            <a:r>
              <a:rPr lang="en-US" sz="4468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Objective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44840" y="5244298"/>
            <a:ext cx="6459807" cy="1503369"/>
          </a:xfrm>
          <a:custGeom>
            <a:avLst/>
            <a:gdLst/>
            <a:ahLst/>
            <a:cxnLst/>
            <a:rect r="r" b="b" t="t" l="l"/>
            <a:pathLst>
              <a:path h="1503369" w="6459807">
                <a:moveTo>
                  <a:pt x="0" y="0"/>
                </a:moveTo>
                <a:lnTo>
                  <a:pt x="6459808" y="0"/>
                </a:lnTo>
                <a:lnTo>
                  <a:pt x="6459808" y="1503369"/>
                </a:lnTo>
                <a:lnTo>
                  <a:pt x="0" y="1503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9" r="0" b="-30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483352" y="5244298"/>
            <a:ext cx="6459807" cy="1503369"/>
          </a:xfrm>
          <a:custGeom>
            <a:avLst/>
            <a:gdLst/>
            <a:ahLst/>
            <a:cxnLst/>
            <a:rect r="r" b="b" t="t" l="l"/>
            <a:pathLst>
              <a:path h="1503369" w="6459807">
                <a:moveTo>
                  <a:pt x="0" y="0"/>
                </a:moveTo>
                <a:lnTo>
                  <a:pt x="6459808" y="0"/>
                </a:lnTo>
                <a:lnTo>
                  <a:pt x="6459808" y="1503369"/>
                </a:lnTo>
                <a:lnTo>
                  <a:pt x="0" y="1503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9" r="0" b="-30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990236" y="5905638"/>
            <a:ext cx="3169016" cy="5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4831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Estimated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73103" y="5945215"/>
            <a:ext cx="2385901" cy="5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4831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Decided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5024" y="6852442"/>
            <a:ext cx="5799439" cy="207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5658" indent="-228553" lvl="2">
              <a:lnSpc>
                <a:spcPts val="4198"/>
              </a:lnSpc>
              <a:buFont typeface="Arial"/>
              <a:buChar char="⚬"/>
            </a:pPr>
            <a:r>
              <a:rPr lang="en-US" sz="29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system approximates the constant queue length and the likelihood of the escalation of the congestion.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2330" y="6642811"/>
            <a:ext cx="7378370" cy="324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520" indent="-236173" lvl="2">
              <a:lnSpc>
                <a:spcPts val="4338"/>
              </a:lnSpc>
              <a:buFont typeface="Arial"/>
              <a:buChar char="⚬"/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sys</a:t>
            </a: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tem decides green light durations using a Las Vegas randomized extension mechanism and dynamically selects the scheduling direction S(t) based on queue proportions.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365653" y="3151757"/>
            <a:ext cx="2664509" cy="1069119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352321" y="3023440"/>
            <a:ext cx="2485492" cy="1382477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81642" y="4084558"/>
            <a:ext cx="14218033" cy="122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8"/>
              </a:lnSpc>
              <a:spcBef>
                <a:spcPct val="0"/>
              </a:spcBef>
            </a:pPr>
            <a:r>
              <a:rPr lang="en-US" sz="351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Additi</a:t>
            </a:r>
            <a:r>
              <a:rPr lang="en-US" sz="351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onally, it aims to minimize a risk-aware objective function that penalizes congestion variability: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950477" y="4243689"/>
            <a:ext cx="5881133" cy="1490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7885" y="9094670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91738" y="1497510"/>
            <a:ext cx="5882378" cy="1368986"/>
          </a:xfrm>
          <a:custGeom>
            <a:avLst/>
            <a:gdLst/>
            <a:ahLst/>
            <a:cxnLst/>
            <a:rect r="r" b="b" t="t" l="l"/>
            <a:pathLst>
              <a:path h="1368986" w="5882378">
                <a:moveTo>
                  <a:pt x="0" y="0"/>
                </a:moveTo>
                <a:lnTo>
                  <a:pt x="5882378" y="0"/>
                </a:lnTo>
                <a:lnTo>
                  <a:pt x="5882378" y="1368985"/>
                </a:lnTo>
                <a:lnTo>
                  <a:pt x="0" y="1368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9" r="0" b="-30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1738" y="4256376"/>
            <a:ext cx="5647157" cy="1314244"/>
          </a:xfrm>
          <a:custGeom>
            <a:avLst/>
            <a:gdLst/>
            <a:ahLst/>
            <a:cxnLst/>
            <a:rect r="r" b="b" t="t" l="l"/>
            <a:pathLst>
              <a:path h="1314244" w="5647157">
                <a:moveTo>
                  <a:pt x="0" y="0"/>
                </a:moveTo>
                <a:lnTo>
                  <a:pt x="5647157" y="0"/>
                </a:lnTo>
                <a:lnTo>
                  <a:pt x="5647157" y="1314244"/>
                </a:lnTo>
                <a:lnTo>
                  <a:pt x="0" y="13142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9" r="0" b="-30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289724" y="585618"/>
            <a:ext cx="7708553" cy="73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SYSTEM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2251" y="1942912"/>
            <a:ext cx="6121353" cy="94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1"/>
              </a:lnSpc>
            </a:pPr>
            <a:r>
              <a:rPr lang="en-US" sz="3956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End-to-end system pipeline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4259" y="4676518"/>
            <a:ext cx="4402116" cy="89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3798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Major Components &amp; Data Flow: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3532" y="3001632"/>
            <a:ext cx="16505768" cy="107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520" indent="-236173" lvl="2">
              <a:lnSpc>
                <a:spcPts val="4338"/>
              </a:lnSpc>
              <a:buFont typeface="Arial"/>
              <a:buChar char="⚬"/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controlled Markov-process is represented by the system state, X(t) = (Q(t), S (t)).  Time is represented in signal cycles t=0,1,2,...].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3532" y="5672169"/>
            <a:ext cx="16505768" cy="530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520" indent="-236173" lvl="2">
              <a:lnSpc>
                <a:spcPts val="4338"/>
              </a:lnSpc>
              <a:buFont typeface="Arial"/>
              <a:buChar char="⚬"/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 multivari</a:t>
            </a: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ate arrival vector A(t) injects into the intersection during cycle t.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3532" y="6286276"/>
            <a:ext cx="16505768" cy="530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520" indent="-236173" lvl="2">
              <a:lnSpc>
                <a:spcPts val="4338"/>
              </a:lnSpc>
              <a:buFont typeface="Arial"/>
              <a:buChar char="⚬"/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Queue Evolution: Queues evolve as a function of time as follow: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6688" y="6141557"/>
            <a:ext cx="8106752" cy="1712455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753532" y="7264175"/>
            <a:ext cx="16505768" cy="107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520" indent="-236173" lvl="2">
              <a:lnSpc>
                <a:spcPts val="4338"/>
              </a:lnSpc>
              <a:buFont typeface="Arial"/>
              <a:buChar char="⚬"/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Departures: here the service rate     and the allocated green time act as constraints for departures Di(t).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15654" y="7332150"/>
            <a:ext cx="555898" cy="418639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753532" y="8349310"/>
            <a:ext cx="16505768" cy="107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520" indent="-236173" lvl="2">
              <a:lnSpc>
                <a:spcPts val="4338"/>
              </a:lnSpc>
              <a:buFont typeface="Arial"/>
              <a:buChar char="⚬"/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Scheduling: A randomized scheduling function outputs a conditional PMF to select the next direction based on current queue proportions.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804771" y="977551"/>
            <a:ext cx="10502150" cy="73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SOURCE OF UNCERTAINTY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38220" y="1883369"/>
            <a:ext cx="5614845" cy="1306725"/>
          </a:xfrm>
          <a:custGeom>
            <a:avLst/>
            <a:gdLst/>
            <a:ahLst/>
            <a:cxnLst/>
            <a:rect r="r" b="b" t="t" l="l"/>
            <a:pathLst>
              <a:path h="1306725" w="5614845">
                <a:moveTo>
                  <a:pt x="0" y="0"/>
                </a:moveTo>
                <a:lnTo>
                  <a:pt x="5614844" y="0"/>
                </a:lnTo>
                <a:lnTo>
                  <a:pt x="5614844" y="1306725"/>
                </a:lnTo>
                <a:lnTo>
                  <a:pt x="0" y="1306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51" r="0" b="-25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5194" y="2444858"/>
            <a:ext cx="5120897" cy="52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9"/>
              </a:lnSpc>
            </a:pPr>
            <a:r>
              <a:rPr lang="en-US" sz="422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Measurement Noise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3275828"/>
            <a:ext cx="7258755" cy="118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107" indent="-259036" lvl="2">
              <a:lnSpc>
                <a:spcPts val="4758"/>
              </a:lnSpc>
              <a:buFont typeface="Arial"/>
              <a:buChar char="⚬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Vehicle speeds vary largely in Indian traffic.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0" y="4760452"/>
            <a:ext cx="8048225" cy="118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107" indent="-259036" lvl="2">
              <a:lnSpc>
                <a:spcPts val="4758"/>
              </a:lnSpc>
              <a:buFont typeface="Arial"/>
              <a:buChar char="⚬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It is modelled as normal distribution as follow :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693916" y="1775812"/>
            <a:ext cx="6077007" cy="1414282"/>
          </a:xfrm>
          <a:custGeom>
            <a:avLst/>
            <a:gdLst/>
            <a:ahLst/>
            <a:cxnLst/>
            <a:rect r="r" b="b" t="t" l="l"/>
            <a:pathLst>
              <a:path h="1414282" w="6077007">
                <a:moveTo>
                  <a:pt x="0" y="0"/>
                </a:moveTo>
                <a:lnTo>
                  <a:pt x="6077008" y="0"/>
                </a:lnTo>
                <a:lnTo>
                  <a:pt x="6077008" y="1414282"/>
                </a:lnTo>
                <a:lnTo>
                  <a:pt x="0" y="1414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33" r="0" b="-43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320623" y="2232069"/>
            <a:ext cx="4823584" cy="92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Environmental Variability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30915" y="3275828"/>
            <a:ext cx="7258755" cy="118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107" indent="-259036" lvl="2">
              <a:lnSpc>
                <a:spcPts val="4758"/>
              </a:lnSpc>
              <a:buFont typeface="Arial"/>
              <a:buChar char="⚬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shifts between peak and non peak hours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0915" y="4580098"/>
            <a:ext cx="7521912" cy="115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4245" indent="-251415" lvl="2">
              <a:lnSpc>
                <a:spcPts val="4618"/>
              </a:lnSpc>
              <a:buFont typeface="Arial"/>
              <a:buChar char="⚬"/>
            </a:pPr>
            <a:r>
              <a:rPr lang="en-US" sz="32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It is captured using time varying arrival rate parameter 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961869" y="5767940"/>
            <a:ext cx="6370377" cy="1482557"/>
          </a:xfrm>
          <a:custGeom>
            <a:avLst/>
            <a:gdLst/>
            <a:ahLst/>
            <a:cxnLst/>
            <a:rect r="r" b="b" t="t" l="l"/>
            <a:pathLst>
              <a:path h="1482557" w="6370377">
                <a:moveTo>
                  <a:pt x="0" y="0"/>
                </a:moveTo>
                <a:lnTo>
                  <a:pt x="6370377" y="0"/>
                </a:lnTo>
                <a:lnTo>
                  <a:pt x="6370377" y="1482557"/>
                </a:lnTo>
                <a:lnTo>
                  <a:pt x="0" y="1482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19" r="0" b="-41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35270" y="6204556"/>
            <a:ext cx="4823584" cy="92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Modeling &amp; Data Uncertainity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2941" y="7345747"/>
            <a:ext cx="11872846" cy="58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107" indent="-259036" lvl="2">
              <a:lnSpc>
                <a:spcPts val="4758"/>
              </a:lnSpc>
              <a:buFont typeface="Arial"/>
              <a:buChar char="⚬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</a:t>
            </a: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elies on the M/M/1 steady-state approximation.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2941" y="8049941"/>
            <a:ext cx="14236163" cy="58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107" indent="-259036" lvl="2">
              <a:lnSpc>
                <a:spcPts val="4758"/>
              </a:lnSpc>
              <a:buFont typeface="Arial"/>
              <a:buChar char="⚬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Ass</a:t>
            </a: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umes traffic remains strictly stable, meaning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72941" y="8806168"/>
            <a:ext cx="10516981" cy="118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107" indent="-259036" lvl="2">
              <a:lnSpc>
                <a:spcPts val="4758"/>
              </a:lnSpc>
              <a:buFont typeface="Arial"/>
              <a:buChar char="⚬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Assumes independent ar</a:t>
            </a: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rivals across directions, which may miss real-world urban correlations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07631" y="5811283"/>
            <a:ext cx="3727072" cy="1167525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672860" y="5095580"/>
            <a:ext cx="1197887" cy="687004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17555" y="8202860"/>
            <a:ext cx="1510258" cy="666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62576" y="880320"/>
            <a:ext cx="15249696" cy="14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KEY RANDOM VARIABLES AND THEIR ROLES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796" y="2868981"/>
            <a:ext cx="5123259" cy="48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sz="3824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Vehicle Arrival (Ai(t)):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31444" y="2688006"/>
            <a:ext cx="11727856" cy="13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It represents the number vehicles arriving in the direction i at time period 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677" y="4190070"/>
            <a:ext cx="5309252" cy="48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sz="3824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Queue Length (Qi(t)):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31444" y="4009095"/>
            <a:ext cx="11517097" cy="13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It is the queue length at the start of cycle t, this dictates the transition of the system state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8220" y="5427024"/>
            <a:ext cx="4401656" cy="48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sz="3824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W</a:t>
            </a:r>
            <a:r>
              <a:rPr lang="en-US" sz="3824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aiting Time (Wi):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31444" y="5206675"/>
            <a:ext cx="11517097" cy="13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w</a:t>
            </a: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aiting time per lane, derived from the expected queue length using Little's Law.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4268" y="6710329"/>
            <a:ext cx="4595787" cy="48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sz="3824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Vehicle speed Vi: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1444" y="6489980"/>
            <a:ext cx="11517097" cy="13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random speeds at which the vehicles arrive modeled by 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937014" y="6939908"/>
            <a:ext cx="3727072" cy="1167525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36796" y="8318351"/>
            <a:ext cx="7152561" cy="48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sz="3824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Green-Time Extension (     ):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50493" y="8267253"/>
            <a:ext cx="896076" cy="490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7122029" y="8098002"/>
            <a:ext cx="9690243" cy="13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randomized time extension applied to the green phase.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38066" y="563969"/>
            <a:ext cx="17411867" cy="73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PROBABILISTIC MODELS AND ASSUMPTIONS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013413" y="1473156"/>
            <a:ext cx="6261173" cy="1457147"/>
          </a:xfrm>
          <a:custGeom>
            <a:avLst/>
            <a:gdLst/>
            <a:ahLst/>
            <a:cxnLst/>
            <a:rect r="r" b="b" t="t" l="l"/>
            <a:pathLst>
              <a:path h="1457147" w="6261173">
                <a:moveTo>
                  <a:pt x="0" y="0"/>
                </a:moveTo>
                <a:lnTo>
                  <a:pt x="6261174" y="0"/>
                </a:lnTo>
                <a:lnTo>
                  <a:pt x="6261174" y="1457147"/>
                </a:lnTo>
                <a:lnTo>
                  <a:pt x="0" y="1457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62" r="0" b="-46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01689" y="1963646"/>
            <a:ext cx="4842984" cy="8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5"/>
              </a:lnSpc>
            </a:pPr>
            <a:r>
              <a:rPr lang="en-US" sz="372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Probabilistic Models Used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412" y="3044603"/>
            <a:ext cx="8167840" cy="53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523" indent="-236174" lvl="2">
              <a:lnSpc>
                <a:spcPts val="4338"/>
              </a:lnSpc>
              <a:buFont typeface="Arial"/>
              <a:buChar char="⚬"/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</a:t>
            </a: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rrivals: Time-varying Poisson process,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7412" y="3700337"/>
            <a:ext cx="12045051" cy="53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523" indent="-236174" lvl="2">
              <a:lnSpc>
                <a:spcPts val="4338"/>
              </a:lnSpc>
              <a:buFont typeface="Arial"/>
              <a:buChar char="⚬"/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Queue Length: Geomet</a:t>
            </a: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ric distribution at steady-state,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412" y="4345478"/>
            <a:ext cx="8896588" cy="53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523" indent="-236174" lvl="2">
              <a:lnSpc>
                <a:spcPts val="4338"/>
              </a:lnSpc>
              <a:buFont typeface="Arial"/>
              <a:buChar char="⚬"/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Wa</a:t>
            </a: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iting Time: Exponential distribution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424824" y="5686442"/>
            <a:ext cx="4812681" cy="1120041"/>
          </a:xfrm>
          <a:custGeom>
            <a:avLst/>
            <a:gdLst/>
            <a:ahLst/>
            <a:cxnLst/>
            <a:rect r="r" b="b" t="t" l="l"/>
            <a:pathLst>
              <a:path h="1120041" w="4812681">
                <a:moveTo>
                  <a:pt x="0" y="0"/>
                </a:moveTo>
                <a:lnTo>
                  <a:pt x="4812681" y="0"/>
                </a:lnTo>
                <a:lnTo>
                  <a:pt x="4812681" y="1120040"/>
                </a:lnTo>
                <a:lnTo>
                  <a:pt x="0" y="1120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82" r="0" b="-28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261521" y="6154345"/>
            <a:ext cx="3139281" cy="4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5"/>
              </a:lnSpc>
            </a:pPr>
            <a:r>
              <a:rPr lang="en-US" sz="3938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Assumptions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827261" y="5686442"/>
            <a:ext cx="4853609" cy="1129566"/>
          </a:xfrm>
          <a:custGeom>
            <a:avLst/>
            <a:gdLst/>
            <a:ahLst/>
            <a:cxnLst/>
            <a:rect r="r" b="b" t="t" l="l"/>
            <a:pathLst>
              <a:path h="1129566" w="4853609">
                <a:moveTo>
                  <a:pt x="0" y="0"/>
                </a:moveTo>
                <a:lnTo>
                  <a:pt x="4853609" y="0"/>
                </a:lnTo>
                <a:lnTo>
                  <a:pt x="4853609" y="1129565"/>
                </a:lnTo>
                <a:lnTo>
                  <a:pt x="0" y="1129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82" r="0" b="-28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77626" y="6221391"/>
            <a:ext cx="2752880" cy="47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</a:pPr>
            <a:r>
              <a:rPr lang="en-US" sz="3817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Justification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37107" y="2705513"/>
            <a:ext cx="4869180" cy="1218699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33579" y="3361247"/>
            <a:ext cx="4869180" cy="1206667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47412" y="4854276"/>
            <a:ext cx="8896588" cy="53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523" indent="-236174" lvl="2">
              <a:lnSpc>
                <a:spcPts val="4338"/>
              </a:lnSpc>
              <a:buFont typeface="Arial"/>
              <a:buChar char="⚬"/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Gree</a:t>
            </a: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n-Time Extension: Uniform distribution,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388574" y="3922908"/>
            <a:ext cx="5985241" cy="1414861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476406" y="4507739"/>
            <a:ext cx="5246051" cy="1314549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994458" y="6835057"/>
            <a:ext cx="7898300" cy="96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9020" indent="-209673" lvl="2">
              <a:lnSpc>
                <a:spcPts val="3852"/>
              </a:lnSpc>
              <a:buFont typeface="Arial"/>
              <a:buChar char="⚬"/>
            </a:pPr>
            <a:r>
              <a:rPr lang="en-US" sz="2751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geometric queu</a:t>
            </a:r>
            <a:r>
              <a:rPr lang="en-US" sz="2751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e model perfectly highlights congestion risks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61345" y="6987457"/>
            <a:ext cx="7117163" cy="147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0106" indent="-213369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</a:t>
            </a:r>
            <a:r>
              <a:rPr lang="en-US" sz="2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 system acts as a controlled Markov process, meaning the next state depends only on the current state.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61345" y="8397325"/>
            <a:ext cx="7287240" cy="99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5403" indent="-218468" lvl="2">
              <a:lnSpc>
                <a:spcPts val="4013"/>
              </a:lnSpc>
              <a:buFont typeface="Arial"/>
              <a:buChar char="⚬"/>
            </a:pPr>
            <a:r>
              <a:rPr lang="en-US" sz="2866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Arriv</a:t>
            </a:r>
            <a:r>
              <a:rPr lang="en-US" sz="2866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als are fully independent across all four intersection approaches.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4458" y="7776768"/>
            <a:ext cx="8128723" cy="96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9020" indent="-209673" lvl="2">
              <a:lnSpc>
                <a:spcPts val="3852"/>
              </a:lnSpc>
              <a:buFont typeface="Arial"/>
              <a:buChar char="⚬"/>
            </a:pPr>
            <a:r>
              <a:rPr lang="en-US" sz="2751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As traffic intensity nears 1, the tail probability                                      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68106" y="7980779"/>
            <a:ext cx="3716489" cy="1086023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4449929" y="8223811"/>
            <a:ext cx="3598379" cy="53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8"/>
              </a:lnSpc>
              <a:spcBef>
                <a:spcPct val="0"/>
              </a:spcBef>
            </a:pPr>
            <a:r>
              <a:rPr lang="en-US" sz="30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increases sharply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43427" y="2719426"/>
            <a:ext cx="5187876" cy="1207358"/>
          </a:xfrm>
          <a:custGeom>
            <a:avLst/>
            <a:gdLst/>
            <a:ahLst/>
            <a:cxnLst/>
            <a:rect r="r" b="b" t="t" l="l"/>
            <a:pathLst>
              <a:path h="1207358" w="5187876">
                <a:moveTo>
                  <a:pt x="0" y="0"/>
                </a:moveTo>
                <a:lnTo>
                  <a:pt x="5187876" y="0"/>
                </a:lnTo>
                <a:lnTo>
                  <a:pt x="5187876" y="1207358"/>
                </a:lnTo>
                <a:lnTo>
                  <a:pt x="0" y="120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15" r="0" b="-51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58272" y="4062919"/>
            <a:ext cx="5314230" cy="1236764"/>
          </a:xfrm>
          <a:custGeom>
            <a:avLst/>
            <a:gdLst/>
            <a:ahLst/>
            <a:cxnLst/>
            <a:rect r="r" b="b" t="t" l="l"/>
            <a:pathLst>
              <a:path h="1236764" w="5314230">
                <a:moveTo>
                  <a:pt x="0" y="0"/>
                </a:moveTo>
                <a:lnTo>
                  <a:pt x="5314230" y="0"/>
                </a:lnTo>
                <a:lnTo>
                  <a:pt x="5314230" y="1236764"/>
                </a:lnTo>
                <a:lnTo>
                  <a:pt x="0" y="1236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15" r="0" b="-51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97085" y="7366608"/>
            <a:ext cx="4836604" cy="1125607"/>
          </a:xfrm>
          <a:custGeom>
            <a:avLst/>
            <a:gdLst/>
            <a:ahLst/>
            <a:cxnLst/>
            <a:rect r="r" b="b" t="t" l="l"/>
            <a:pathLst>
              <a:path h="1125607" w="4836604">
                <a:moveTo>
                  <a:pt x="0" y="0"/>
                </a:moveTo>
                <a:lnTo>
                  <a:pt x="4836604" y="0"/>
                </a:lnTo>
                <a:lnTo>
                  <a:pt x="4836604" y="1125607"/>
                </a:lnTo>
                <a:lnTo>
                  <a:pt x="0" y="1125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15" r="0" b="-51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584272" y="2719426"/>
            <a:ext cx="4773808" cy="1343493"/>
          </a:xfrm>
          <a:custGeom>
            <a:avLst/>
            <a:gdLst/>
            <a:ahLst/>
            <a:cxnLst/>
            <a:rect r="r" b="b" t="t" l="l"/>
            <a:pathLst>
              <a:path h="1343493" w="4773808">
                <a:moveTo>
                  <a:pt x="0" y="0"/>
                </a:moveTo>
                <a:lnTo>
                  <a:pt x="4773808" y="0"/>
                </a:lnTo>
                <a:lnTo>
                  <a:pt x="4773808" y="1343493"/>
                </a:lnTo>
                <a:lnTo>
                  <a:pt x="0" y="13434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420" r="0" b="-13222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7813108" y="4434394"/>
            <a:ext cx="4316136" cy="2725447"/>
          </a:xfrm>
          <a:custGeom>
            <a:avLst/>
            <a:gdLst/>
            <a:ahLst/>
            <a:cxnLst/>
            <a:rect r="r" b="b" t="t" l="l"/>
            <a:pathLst>
              <a:path h="2725447" w="4316136">
                <a:moveTo>
                  <a:pt x="0" y="0"/>
                </a:moveTo>
                <a:lnTo>
                  <a:pt x="4316136" y="0"/>
                </a:lnTo>
                <a:lnTo>
                  <a:pt x="4316136" y="2725447"/>
                </a:lnTo>
                <a:lnTo>
                  <a:pt x="0" y="2725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8087105" y="7710106"/>
            <a:ext cx="3768143" cy="1459843"/>
          </a:xfrm>
          <a:custGeom>
            <a:avLst/>
            <a:gdLst/>
            <a:ahLst/>
            <a:cxnLst/>
            <a:rect r="r" b="b" t="t" l="l"/>
            <a:pathLst>
              <a:path h="1459843" w="3768143">
                <a:moveTo>
                  <a:pt x="0" y="0"/>
                </a:moveTo>
                <a:lnTo>
                  <a:pt x="3768142" y="0"/>
                </a:lnTo>
                <a:lnTo>
                  <a:pt x="3768142" y="1459844"/>
                </a:lnTo>
                <a:lnTo>
                  <a:pt x="0" y="14598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1650730" y="1122502"/>
            <a:ext cx="14986540" cy="14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PROBABILISTIC REASONING AND INFERENCE LOGIC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312" y="3132191"/>
            <a:ext cx="5116106" cy="48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Scheduling Rule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48433" y="4519104"/>
            <a:ext cx="5116106" cy="48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Jensen Inequality: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70779" y="7814881"/>
            <a:ext cx="3502298" cy="48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Inference logic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717024" y="2577265"/>
            <a:ext cx="4318669" cy="1005070"/>
          </a:xfrm>
          <a:custGeom>
            <a:avLst/>
            <a:gdLst/>
            <a:ahLst/>
            <a:cxnLst/>
            <a:rect r="r" b="b" t="t" l="l"/>
            <a:pathLst>
              <a:path h="1005070" w="4318669">
                <a:moveTo>
                  <a:pt x="0" y="0"/>
                </a:moveTo>
                <a:lnTo>
                  <a:pt x="4318669" y="0"/>
                </a:lnTo>
                <a:lnTo>
                  <a:pt x="4318669" y="1005070"/>
                </a:lnTo>
                <a:lnTo>
                  <a:pt x="0" y="1005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15" r="0" b="-51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36618" y="3887135"/>
            <a:ext cx="4279480" cy="995950"/>
          </a:xfrm>
          <a:custGeom>
            <a:avLst/>
            <a:gdLst/>
            <a:ahLst/>
            <a:cxnLst/>
            <a:rect r="r" b="b" t="t" l="l"/>
            <a:pathLst>
              <a:path h="995950" w="4279480">
                <a:moveTo>
                  <a:pt x="0" y="0"/>
                </a:moveTo>
                <a:lnTo>
                  <a:pt x="4279481" y="0"/>
                </a:lnTo>
                <a:lnTo>
                  <a:pt x="4279481" y="995950"/>
                </a:lnTo>
                <a:lnTo>
                  <a:pt x="0" y="995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80" r="0" b="-48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17024" y="7199405"/>
            <a:ext cx="4806890" cy="1118692"/>
          </a:xfrm>
          <a:custGeom>
            <a:avLst/>
            <a:gdLst/>
            <a:ahLst/>
            <a:cxnLst/>
            <a:rect r="r" b="b" t="t" l="l"/>
            <a:pathLst>
              <a:path h="1118692" w="4806890">
                <a:moveTo>
                  <a:pt x="0" y="0"/>
                </a:moveTo>
                <a:lnTo>
                  <a:pt x="4806890" y="0"/>
                </a:lnTo>
                <a:lnTo>
                  <a:pt x="4806890" y="1118692"/>
                </a:lnTo>
                <a:lnTo>
                  <a:pt x="0" y="11186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15" r="0" b="-51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58366" y="5587935"/>
            <a:ext cx="4279480" cy="995950"/>
          </a:xfrm>
          <a:custGeom>
            <a:avLst/>
            <a:gdLst/>
            <a:ahLst/>
            <a:cxnLst/>
            <a:rect r="r" b="b" t="t" l="l"/>
            <a:pathLst>
              <a:path h="995950" w="4279480">
                <a:moveTo>
                  <a:pt x="0" y="0"/>
                </a:moveTo>
                <a:lnTo>
                  <a:pt x="4279480" y="0"/>
                </a:lnTo>
                <a:lnTo>
                  <a:pt x="4279480" y="995949"/>
                </a:lnTo>
                <a:lnTo>
                  <a:pt x="0" y="995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80" r="0" b="-48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65159" y="2784112"/>
            <a:ext cx="6312366" cy="779183"/>
          </a:xfrm>
          <a:custGeom>
            <a:avLst/>
            <a:gdLst/>
            <a:ahLst/>
            <a:cxnLst/>
            <a:rect r="r" b="b" t="t" l="l"/>
            <a:pathLst>
              <a:path h="779183" w="6312366">
                <a:moveTo>
                  <a:pt x="0" y="0"/>
                </a:moveTo>
                <a:lnTo>
                  <a:pt x="6312366" y="0"/>
                </a:lnTo>
                <a:lnTo>
                  <a:pt x="6312366" y="779182"/>
                </a:lnTo>
                <a:lnTo>
                  <a:pt x="0" y="779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8736114" y="3988356"/>
            <a:ext cx="2249682" cy="722459"/>
          </a:xfrm>
          <a:custGeom>
            <a:avLst/>
            <a:gdLst/>
            <a:ahLst/>
            <a:cxnLst/>
            <a:rect r="r" b="b" t="t" l="l"/>
            <a:pathLst>
              <a:path h="722459" w="2249682">
                <a:moveTo>
                  <a:pt x="0" y="0"/>
                </a:moveTo>
                <a:lnTo>
                  <a:pt x="2249682" y="0"/>
                </a:lnTo>
                <a:lnTo>
                  <a:pt x="2249682" y="722459"/>
                </a:lnTo>
                <a:lnTo>
                  <a:pt x="0" y="7224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488701" y="5515560"/>
            <a:ext cx="2744507" cy="983581"/>
          </a:xfrm>
          <a:custGeom>
            <a:avLst/>
            <a:gdLst/>
            <a:ahLst/>
            <a:cxnLst/>
            <a:rect r="r" b="b" t="t" l="l"/>
            <a:pathLst>
              <a:path h="983581" w="2744507">
                <a:moveTo>
                  <a:pt x="0" y="0"/>
                </a:moveTo>
                <a:lnTo>
                  <a:pt x="2744507" y="0"/>
                </a:lnTo>
                <a:lnTo>
                  <a:pt x="2744507" y="983581"/>
                </a:lnTo>
                <a:lnTo>
                  <a:pt x="0" y="9835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1650730" y="1249956"/>
            <a:ext cx="14986540" cy="14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OPERATIONALIZING PROBABILISTIC REASONING IN THE PROJECT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8305" y="2888887"/>
            <a:ext cx="5116106" cy="48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Queue Update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0053" y="4224214"/>
            <a:ext cx="5116106" cy="48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Risk Evaluation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00449" y="7620462"/>
            <a:ext cx="4440380" cy="48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Evaluation Metrics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65159" y="7346866"/>
            <a:ext cx="7625658" cy="239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Mean Congestion</a:t>
            </a:r>
          </a:p>
          <a:p>
            <a:pPr algn="just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Variance </a:t>
            </a:r>
          </a:p>
          <a:p>
            <a:pPr algn="just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Tail Probability bound </a:t>
            </a:r>
          </a:p>
          <a:p>
            <a:pPr algn="just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95</a:t>
            </a: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</a:t>
            </a: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 percentile waiting time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8305" y="5995799"/>
            <a:ext cx="5116106" cy="48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Safety Bound: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7476" y="1091508"/>
            <a:ext cx="14986540" cy="14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CURRENT LIMITATIONS AND CONCEPTUAL GAPS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9703" y="3048935"/>
            <a:ext cx="4674101" cy="1087788"/>
          </a:xfrm>
          <a:custGeom>
            <a:avLst/>
            <a:gdLst/>
            <a:ahLst/>
            <a:cxnLst/>
            <a:rect r="r" b="b" t="t" l="l"/>
            <a:pathLst>
              <a:path h="1087788" w="4674101">
                <a:moveTo>
                  <a:pt x="0" y="0"/>
                </a:moveTo>
                <a:lnTo>
                  <a:pt x="4674100" y="0"/>
                </a:lnTo>
                <a:lnTo>
                  <a:pt x="4674100" y="1087788"/>
                </a:lnTo>
                <a:lnTo>
                  <a:pt x="0" y="10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80" r="0" b="-48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3401916"/>
            <a:ext cx="5116106" cy="48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Limitations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5512" y="4511047"/>
            <a:ext cx="8858488" cy="190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2732" indent="-274244" lvl="2">
              <a:lnSpc>
                <a:spcPts val="5038"/>
              </a:lnSpc>
              <a:buFont typeface="Arial"/>
              <a:buChar char="⚬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Poisson assumptions may oversimplify</a:t>
            </a:r>
          </a:p>
          <a:p>
            <a:pPr algn="just" marL="822732" indent="-274244" lvl="2">
              <a:lnSpc>
                <a:spcPts val="5038"/>
              </a:lnSpc>
              <a:buFont typeface="Arial"/>
              <a:buChar char="⚬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Independence across direction</a:t>
            </a:r>
          </a:p>
          <a:p>
            <a:pPr algn="just" marL="822836" indent="-274279" lvl="2">
              <a:lnSpc>
                <a:spcPts val="5038"/>
              </a:lnSpc>
              <a:buFont typeface="Arial"/>
              <a:buChar char="⚬"/>
            </a:pPr>
            <a:r>
              <a:rPr lang="en-US" sz="3598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Markove bound is loose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885894" y="3004195"/>
            <a:ext cx="4674101" cy="1087788"/>
          </a:xfrm>
          <a:custGeom>
            <a:avLst/>
            <a:gdLst/>
            <a:ahLst/>
            <a:cxnLst/>
            <a:rect r="r" b="b" t="t" l="l"/>
            <a:pathLst>
              <a:path h="1087788" w="4674101">
                <a:moveTo>
                  <a:pt x="0" y="0"/>
                </a:moveTo>
                <a:lnTo>
                  <a:pt x="4674101" y="0"/>
                </a:lnTo>
                <a:lnTo>
                  <a:pt x="4674101" y="1087788"/>
                </a:lnTo>
                <a:lnTo>
                  <a:pt x="0" y="1087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80" r="0" b="-48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64891" y="3401916"/>
            <a:ext cx="5116106" cy="48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Conceptual gaps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32396" y="4511047"/>
            <a:ext cx="6926904" cy="127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2732" indent="-274244" lvl="2">
              <a:lnSpc>
                <a:spcPts val="5038"/>
              </a:lnSpc>
              <a:buFont typeface="Arial"/>
              <a:buChar char="⚬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No adaptive learning</a:t>
            </a:r>
          </a:p>
          <a:p>
            <a:pPr algn="just" marL="822837" indent="-274279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No dynamic green switching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730" y="1390650"/>
            <a:ext cx="14986540" cy="14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PLANNED REFINEMENTS AND ROLE COORDINATION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286000" y="3208867"/>
            <a:ext cx="5654469" cy="1315945"/>
          </a:xfrm>
          <a:custGeom>
            <a:avLst/>
            <a:gdLst/>
            <a:ahLst/>
            <a:cxnLst/>
            <a:rect r="r" b="b" t="t" l="l"/>
            <a:pathLst>
              <a:path h="1315945" w="5654469">
                <a:moveTo>
                  <a:pt x="0" y="0"/>
                </a:moveTo>
                <a:lnTo>
                  <a:pt x="5654469" y="0"/>
                </a:lnTo>
                <a:lnTo>
                  <a:pt x="5654469" y="1315945"/>
                </a:lnTo>
                <a:lnTo>
                  <a:pt x="0" y="1315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75" r="0" b="-27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79894" y="3682550"/>
            <a:ext cx="4866680" cy="47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8"/>
              </a:lnSpc>
            </a:pPr>
            <a:r>
              <a:rPr lang="en-US" sz="3795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Planned Refinements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715449" y="3357033"/>
            <a:ext cx="5594280" cy="1301944"/>
          </a:xfrm>
          <a:custGeom>
            <a:avLst/>
            <a:gdLst/>
            <a:ahLst/>
            <a:cxnLst/>
            <a:rect r="r" b="b" t="t" l="l"/>
            <a:pathLst>
              <a:path h="1301944" w="5594280">
                <a:moveTo>
                  <a:pt x="0" y="0"/>
                </a:moveTo>
                <a:lnTo>
                  <a:pt x="5594280" y="0"/>
                </a:lnTo>
                <a:lnTo>
                  <a:pt x="5594280" y="1301943"/>
                </a:lnTo>
                <a:lnTo>
                  <a:pt x="0" y="13019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22" r="0" b="-42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379417" y="3817091"/>
            <a:ext cx="4266344" cy="48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894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Role Coordination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86733" y="4660877"/>
            <a:ext cx="5222996" cy="353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9463" indent="-253154" lvl="2">
              <a:lnSpc>
                <a:spcPts val="4651"/>
              </a:lnSpc>
              <a:buFont typeface="Arial"/>
              <a:buChar char="⚬"/>
            </a:pPr>
            <a:r>
              <a:rPr lang="en-US" sz="332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GitHub manager created a repo</a:t>
            </a:r>
          </a:p>
          <a:p>
            <a:pPr algn="l" marL="759463" indent="-253154" lvl="2">
              <a:lnSpc>
                <a:spcPts val="4651"/>
              </a:lnSpc>
              <a:buFont typeface="Arial"/>
              <a:buChar char="⚬"/>
            </a:pPr>
            <a:r>
              <a:rPr lang="en-US" sz="332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Structured it in the format required, which is clear and easy to read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9053" y="4801451"/>
            <a:ext cx="6861296" cy="29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9409" indent="-253136" lvl="2">
              <a:lnSpc>
                <a:spcPts val="4650"/>
              </a:lnSpc>
              <a:buFont typeface="Arial"/>
              <a:buChar char="⚬"/>
            </a:pPr>
            <a:r>
              <a:rPr lang="en-US" sz="3321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Full simulation experiments</a:t>
            </a:r>
          </a:p>
          <a:p>
            <a:pPr algn="l" marL="759409" indent="-253136" lvl="2">
              <a:lnSpc>
                <a:spcPts val="4650"/>
              </a:lnSpc>
              <a:buFont typeface="Arial"/>
              <a:buChar char="⚬"/>
            </a:pPr>
            <a:r>
              <a:rPr lang="en-US" sz="3321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Compare risk-sensitive vs mean-only objective</a:t>
            </a:r>
          </a:p>
          <a:p>
            <a:pPr algn="l" marL="759409" indent="-253136" lvl="2">
              <a:lnSpc>
                <a:spcPts val="4650"/>
              </a:lnSpc>
              <a:buFont typeface="Arial"/>
              <a:buChar char="⚬"/>
            </a:pPr>
            <a:r>
              <a:rPr lang="en-US" sz="3321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Sensitivity analysis on λ</a:t>
            </a:r>
          </a:p>
          <a:p>
            <a:pPr algn="l" marL="759463" indent="-253154" lvl="2">
              <a:lnSpc>
                <a:spcPts val="4651"/>
              </a:lnSpc>
              <a:buFont typeface="Arial"/>
              <a:buChar char="⚬"/>
            </a:pPr>
            <a:r>
              <a:rPr lang="en-US" sz="332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Parameter tuning for β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390650"/>
            <a:ext cx="14986540" cy="14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6002" b="true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SUMMARY OF GROUP-LEVEL UNDERSTANDING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68057" y="6223749"/>
            <a:ext cx="12951895" cy="192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1"/>
              </a:lnSpc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Overall,</a:t>
            </a:r>
          </a:p>
          <a:p>
            <a:pPr algn="just" marL="839497" indent="-279832" lvl="2">
              <a:lnSpc>
                <a:spcPts val="5141"/>
              </a:lnSpc>
              <a:buFont typeface="Arial"/>
              <a:buChar char="⚬"/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Stochastic modeling with risk and safety guarantees for Indian urban traffic control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86952" y="2983287"/>
            <a:ext cx="12121934" cy="257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1"/>
              </a:lnSpc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We understand:</a:t>
            </a:r>
          </a:p>
          <a:p>
            <a:pPr algn="just" marL="839419" indent="-279806" lvl="2">
              <a:lnSpc>
                <a:spcPts val="5140"/>
              </a:lnSpc>
              <a:buFont typeface="Arial"/>
              <a:buChar char="⚬"/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Random Variables in our project</a:t>
            </a:r>
          </a:p>
          <a:p>
            <a:pPr algn="just" marL="839419" indent="-279806" lvl="2">
              <a:lnSpc>
                <a:spcPts val="5140"/>
              </a:lnSpc>
              <a:buFont typeface="Arial"/>
              <a:buChar char="⚬"/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PMF and CDF</a:t>
            </a:r>
          </a:p>
          <a:p>
            <a:pPr algn="just" marL="839495" indent="-279832" lvl="2">
              <a:lnSpc>
                <a:spcPts val="5141"/>
              </a:lnSpc>
              <a:buFont typeface="Arial"/>
              <a:buChar char="⚬"/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Jensen &amp; Markov inequality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0" r="0" b="-4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106" cy="152400"/>
            <a:chOff x="0" y="0"/>
            <a:chExt cx="5197475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899" t="0" r="-1128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106" cy="158210"/>
            <a:chOff x="0" y="0"/>
            <a:chExt cx="5197475" cy="210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109" t="0" r="-119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32" cy="898493"/>
            <a:chOff x="0" y="0"/>
            <a:chExt cx="2731643" cy="1197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730" r="0" b="-377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67348" y="3729114"/>
            <a:ext cx="11353305" cy="380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4"/>
              </a:lnSpc>
            </a:pPr>
            <a:r>
              <a:rPr lang="en-US" sz="16106" b="true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DAHBslOISKE</dc:identifier>
  <dcterms:modified xsi:type="dcterms:W3CDTF">2011-08-01T06:04:30Z</dcterms:modified>
  <cp:revision>1</cp:revision>
  <dc:title>CSE400 - FUNDAMENTALS OF PROBABILITY IN COMPUTING</dc:title>
</cp:coreProperties>
</file>